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embeddedFontLst>
    <p:embeddedFont>
      <p:font typeface="Poppins"/>
      <p:regular r:id="rId24"/>
      <p:bold r:id="rId25"/>
      <p:italic r:id="rId26"/>
      <p:boldItalic r:id="rId27"/>
    </p:embeddedFont>
    <p:embeddedFont>
      <p:font typeface="Gill Sans"/>
      <p:regular r:id="rId28"/>
      <p:bold r:id="rId29"/>
    </p:embeddedFont>
    <p:embeddedFont>
      <p:font typeface="Comfortaa Medium"/>
      <p:regular r:id="rId30"/>
      <p:bold r:id="rId31"/>
    </p:embeddedFont>
    <p:embeddedFont>
      <p:font typeface="Comfortaa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82C7E1-4D81-4EAD-84D9-B44F34015BA1}">
  <a:tblStyle styleId="{D882C7E1-4D81-4EAD-84D9-B44F34015BA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Poppins-regular.fntdata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GillSans-regular.fntdata"/><Relationship Id="rId27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GillSans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ComfortaaMedium-bold.fntdata"/><Relationship Id="rId30" Type="http://schemas.openxmlformats.org/officeDocument/2006/relationships/font" Target="fonts/ComfortaaMedium-regular.fntdata"/><Relationship Id="rId11" Type="http://schemas.openxmlformats.org/officeDocument/2006/relationships/slide" Target="slides/slide4.xml"/><Relationship Id="rId33" Type="http://schemas.openxmlformats.org/officeDocument/2006/relationships/font" Target="fonts/Comfortaa-bold.fntdata"/><Relationship Id="rId10" Type="http://schemas.openxmlformats.org/officeDocument/2006/relationships/slide" Target="slides/slide3.xml"/><Relationship Id="rId32" Type="http://schemas.openxmlformats.org/officeDocument/2006/relationships/font" Target="fonts/Comfortaa-regular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e237b70a3_2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de237b70a3_2_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de237b70a3_2_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e237b70a3_2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de237b70a3_2_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de237b70a3_2_8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e237b70a3_2_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de237b70a3_2_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de237b70a3_2_9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e237b70a3_2_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de237b70a3_2_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de237b70a3_2_10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e237b70a3_2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de237b70a3_2_1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de237b70a3_2_1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e237b70a3_2_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de237b70a3_2_1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de237b70a3_2_1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e237b70a3_2_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de237b70a3_2_1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de237b70a3_2_1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e237b70a3_2_1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de237b70a3_2_1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de237b70a3_2_1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e237b70a3_2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de237b70a3_2_1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de237b70a3_2_1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e237b70a3_2_1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de237b70a3_2_1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de237b70a3_2_1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e237b70a3_2_1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de237b70a3_2_1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de237b70a3_2_1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de237b70a3_2_1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de237b70a3_2_1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de237b70a3_2_18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de237b70a3_2_2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g3de237b70a3_2_2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de237b70a3_2_20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de237b70a3_2_2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3de237b70a3_2_2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de237b70a3_2_2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de237b70a3_2_2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3de237b70a3_2_2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de237b70a3_2_2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de237b70a3_2_2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3de237b70a3_2_2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de237b70a3_2_2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Relationship Id="rId4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Relationship Id="rId4" Type="http://schemas.openxmlformats.org/officeDocument/2006/relationships/image" Target="../media/image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Relationship Id="rId4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jp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/>
        </p:nvSpPr>
        <p:spPr>
          <a:xfrm>
            <a:off x="-63774" y="1407970"/>
            <a:ext cx="91440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IEEE </a:t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SAFE - RL IN HAZARDOUS-GRIDWORLD</a:t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31" name="Google Shape;131;p25"/>
          <p:cNvSpPr txBox="1"/>
          <p:nvPr/>
        </p:nvSpPr>
        <p:spPr>
          <a:xfrm>
            <a:off x="11906" y="3371850"/>
            <a:ext cx="68307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</a:pPr>
            <a:r>
              <a:t/>
            </a:r>
            <a:endParaRPr b="0" i="1" sz="15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2" name="Google Shape;132;p25"/>
          <p:cNvSpPr txBox="1"/>
          <p:nvPr/>
        </p:nvSpPr>
        <p:spPr>
          <a:xfrm>
            <a:off x="70766" y="3786634"/>
            <a:ext cx="8874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33" name="Google Shape;133;p25"/>
          <p:cNvSpPr txBox="1"/>
          <p:nvPr/>
        </p:nvSpPr>
        <p:spPr>
          <a:xfrm>
            <a:off x="1978819" y="4551760"/>
            <a:ext cx="7129463" cy="513159"/>
          </a:xfrm>
          <a:prstGeom prst="rect">
            <a:avLst/>
          </a:prstGeom>
          <a:solidFill>
            <a:srgbClr val="C9C9C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35719" y="4551760"/>
            <a:ext cx="1893094" cy="514350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r>
              <a:rPr b="1" lang="en-GB" sz="1500">
                <a:solidFill>
                  <a:schemeClr val="dk1"/>
                </a:solidFill>
              </a:rPr>
              <a:t>VIT-AP</a:t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5"/>
          <p:cNvSpPr txBox="1"/>
          <p:nvPr/>
        </p:nvSpPr>
        <p:spPr>
          <a:xfrm>
            <a:off x="1849040" y="4658321"/>
            <a:ext cx="7394972" cy="300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Gill Sans"/>
                <a:ea typeface="Gill Sans"/>
                <a:cs typeface="Gill Sans"/>
                <a:sym typeface="Gill Sans"/>
              </a:rPr>
              <a:t>Venue CB115</a:t>
            </a:r>
            <a:endParaRPr sz="1100"/>
          </a:p>
        </p:txBody>
      </p:sp>
      <p:sp>
        <p:nvSpPr>
          <p:cNvPr id="136" name="Google Shape;136;p25"/>
          <p:cNvSpPr txBox="1"/>
          <p:nvPr/>
        </p:nvSpPr>
        <p:spPr>
          <a:xfrm>
            <a:off x="5754450" y="3301425"/>
            <a:ext cx="3274200" cy="1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Team Members:</a:t>
            </a:r>
            <a:endParaRPr b="1"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Dhruv Aggarwal- 23BCE7474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 Mani Gopal- 23BCE7466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845" y="227409"/>
            <a:ext cx="1542335" cy="53007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6"/>
          <p:cNvSpPr txBox="1"/>
          <p:nvPr>
            <p:ph idx="12" type="sldNum"/>
          </p:nvPr>
        </p:nvSpPr>
        <p:spPr>
          <a:xfrm>
            <a:off x="8872447" y="-9525"/>
            <a:ext cx="27432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GB" sz="1800">
                <a:solidFill>
                  <a:srgbClr val="EE0000"/>
                </a:solidFill>
              </a:rPr>
              <a:t>‹#›</a:t>
            </a:fld>
            <a:endParaRPr b="1">
              <a:solidFill>
                <a:srgbClr val="EE0000"/>
              </a:solidFill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1269491" y="270196"/>
            <a:ext cx="6777000" cy="53084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50" lIns="68500" spcFirstLastPara="1" rIns="68500" wrap="square" tIns="342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Presentation Outline</a:t>
            </a:r>
            <a:endParaRPr sz="1100"/>
          </a:p>
        </p:txBody>
      </p:sp>
      <p:sp>
        <p:nvSpPr>
          <p:cNvPr id="145" name="Google Shape;145;p26"/>
          <p:cNvSpPr/>
          <p:nvPr/>
        </p:nvSpPr>
        <p:spPr>
          <a:xfrm>
            <a:off x="0" y="1120591"/>
            <a:ext cx="6371561" cy="402290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9250" lvl="1" marL="685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Noto Sans Symbols"/>
              <a:buChar char="❑"/>
            </a:pPr>
            <a:r>
              <a:rPr b="0" i="0" lang="en-GB" sz="21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1100"/>
          </a:p>
          <a:p>
            <a:pPr indent="-349250" lvl="1" marL="685800" marR="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Noto Sans Symbols"/>
              <a:buChar char="❑"/>
            </a:pPr>
            <a:r>
              <a:rPr b="0" i="0" lang="en-GB" sz="2100" u="none" cap="none" strike="noStrik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Problem Statement and Proposed Solution</a:t>
            </a:r>
            <a:endParaRPr sz="1100"/>
          </a:p>
          <a:p>
            <a:pPr indent="-349250" lvl="1" marL="685800" marR="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Noto Sans Symbols"/>
              <a:buChar char="❑"/>
            </a:pPr>
            <a:r>
              <a:rPr b="0" i="0" lang="en-GB" sz="21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sz="1100"/>
          </a:p>
          <a:p>
            <a:pPr indent="-349250" lvl="1" marL="685800" marR="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Noto Sans Symbols"/>
              <a:buChar char="❑"/>
            </a:pPr>
            <a:r>
              <a:rPr b="0" i="0" lang="en-GB" sz="2100" u="none" cap="none" strike="noStrik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Methodology and Implementation</a:t>
            </a:r>
            <a:endParaRPr b="0" i="0" sz="2100" u="none" cap="none" strike="noStrike">
              <a:solidFill>
                <a:srgbClr val="3856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685800" marR="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Noto Sans Symbols"/>
              <a:buChar char="❑"/>
            </a:pPr>
            <a:r>
              <a:rPr b="0" i="0" lang="en-GB" sz="21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Results and Analysis</a:t>
            </a:r>
            <a:endParaRPr b="0" i="0" sz="2100" u="none" cap="none" strike="noStrike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685800" marR="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Noto Sans Symbols"/>
              <a:buChar char="❑"/>
            </a:pPr>
            <a:r>
              <a:rPr b="0" i="0" lang="en-GB" sz="2100" u="none" cap="none" strike="noStrik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1100"/>
          </a:p>
          <a:p>
            <a:pPr indent="-349250" lvl="1" marL="685800" marR="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Noto Sans Symbols"/>
              <a:buChar char="❑"/>
            </a:pPr>
            <a:r>
              <a:rPr b="0" i="0" lang="en-GB" sz="21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Important References 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845" y="227409"/>
            <a:ext cx="1542335" cy="53007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7"/>
          <p:cNvSpPr txBox="1"/>
          <p:nvPr>
            <p:ph idx="12" type="sldNum"/>
          </p:nvPr>
        </p:nvSpPr>
        <p:spPr>
          <a:xfrm>
            <a:off x="8872447" y="-9525"/>
            <a:ext cx="27432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GB" sz="1800">
                <a:solidFill>
                  <a:srgbClr val="EE0000"/>
                </a:solidFill>
              </a:rPr>
              <a:t>‹#›</a:t>
            </a:fld>
            <a:endParaRPr b="1">
              <a:solidFill>
                <a:srgbClr val="EE0000"/>
              </a:solidFill>
            </a:endParaRPr>
          </a:p>
        </p:txBody>
      </p:sp>
      <p:sp>
        <p:nvSpPr>
          <p:cNvPr id="153" name="Google Shape;153;p27"/>
          <p:cNvSpPr txBox="1"/>
          <p:nvPr/>
        </p:nvSpPr>
        <p:spPr>
          <a:xfrm>
            <a:off x="1269491" y="270196"/>
            <a:ext cx="6777000" cy="53084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50" lIns="68500" spcFirstLastPara="1" rIns="68500" wrap="square" tIns="342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1100"/>
          </a:p>
        </p:txBody>
      </p:sp>
      <p:sp>
        <p:nvSpPr>
          <p:cNvPr id="154" name="Google Shape;154;p27"/>
          <p:cNvSpPr txBox="1"/>
          <p:nvPr/>
        </p:nvSpPr>
        <p:spPr>
          <a:xfrm>
            <a:off x="332675" y="1042850"/>
            <a:ext cx="8539800" cy="38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The rapid advancement of autonomous systems—such as robotics and self-driving vehicles—has made safety a critical requirement in decision-making systems. Traditional Reinforcement Learning (RL) focuses on maximizing cumulative rewards, often ignoring safety constraints, which can lead to catastrophic failures in real-world environments. </a:t>
            </a:r>
            <a:endParaRPr sz="11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To address this, Safe Reinforcement Learning (SafeRL) introduces the Constrained Markov Decision Process (CMDP) framework. In CMDPs, agents must not only maximize rewards but also adhere to safety constraints.</a:t>
            </a:r>
            <a:endParaRPr sz="11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Two primary approaches exist:</a:t>
            </a:r>
            <a:endParaRPr sz="11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mic Sans MS"/>
              <a:buChar char="●"/>
            </a:pPr>
            <a:r>
              <a:rPr lang="en-GB" sz="11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Soft safety (Lagrangian methods): Penalize unsafe behavior</a:t>
            </a:r>
            <a:endParaRPr sz="11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mic Sans MS"/>
              <a:buChar char="●"/>
            </a:pPr>
            <a:r>
              <a:rPr lang="en-GB" sz="11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Hard safety (Shielding): Prevent unsafe actions entirely</a:t>
            </a:r>
            <a:endParaRPr sz="11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This work provides a comparative evaluation of these approaches, supported by a multi-seed statistical validation framework to ensure reliability.</a:t>
            </a:r>
            <a:endParaRPr sz="11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845" y="227409"/>
            <a:ext cx="1542335" cy="53007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8"/>
          <p:cNvSpPr txBox="1"/>
          <p:nvPr>
            <p:ph idx="12" type="sldNum"/>
          </p:nvPr>
        </p:nvSpPr>
        <p:spPr>
          <a:xfrm>
            <a:off x="8872447" y="-9525"/>
            <a:ext cx="27432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GB" sz="1800">
                <a:solidFill>
                  <a:srgbClr val="EE0000"/>
                </a:solidFill>
              </a:rPr>
              <a:t>‹#›</a:t>
            </a:fld>
            <a:endParaRPr b="1">
              <a:solidFill>
                <a:srgbClr val="EE0000"/>
              </a:solidFill>
            </a:endParaRPr>
          </a:p>
        </p:txBody>
      </p:sp>
      <p:sp>
        <p:nvSpPr>
          <p:cNvPr id="162" name="Google Shape;162;p28"/>
          <p:cNvSpPr txBox="1"/>
          <p:nvPr/>
        </p:nvSpPr>
        <p:spPr>
          <a:xfrm>
            <a:off x="1269490" y="270196"/>
            <a:ext cx="8000480" cy="53084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50" lIns="68500" spcFirstLastPara="1" rIns="68500" wrap="square" tIns="342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Problem Statement and Proposed Solution</a:t>
            </a:r>
            <a:endParaRPr sz="1100"/>
          </a:p>
        </p:txBody>
      </p:sp>
      <p:sp>
        <p:nvSpPr>
          <p:cNvPr id="163" name="Google Shape;163;p28"/>
          <p:cNvSpPr txBox="1"/>
          <p:nvPr/>
        </p:nvSpPr>
        <p:spPr>
          <a:xfrm>
            <a:off x="469845" y="1021087"/>
            <a:ext cx="8000400" cy="39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Problem: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Standard RL agents:</a:t>
            </a:r>
            <a:endParaRPr sz="9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fortaa"/>
              <a:buChar char="●"/>
            </a:pPr>
            <a:r>
              <a:rPr lang="en-GB" sz="9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Maximize reward without considering safety</a:t>
            </a:r>
            <a:endParaRPr sz="9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9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May choose risky paths if rewards outweigh penalties</a:t>
            </a:r>
            <a:endParaRPr sz="9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9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Are unsuitable for real-world deployment where violations are costly</a:t>
            </a:r>
            <a:endParaRPr sz="9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Proposed Solution:</a:t>
            </a:r>
            <a:endParaRPr b="1" sz="1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The problem is modeled as a CMDP, where:</a:t>
            </a:r>
            <a:endParaRPr sz="900"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Objective: Maximize reward</a:t>
            </a:r>
            <a:endParaRPr sz="900"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Constraint: Keep cumulative safety cost below threshold</a:t>
            </a:r>
            <a:endParaRPr sz="900"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The study evaluates five architectures:</a:t>
            </a:r>
            <a:endParaRPr sz="900"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fortaa Medium"/>
              <a:buAutoNum type="arabicPeriod"/>
            </a:pPr>
            <a:r>
              <a:rPr lang="en-GB" sz="9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Q-Learning (baseline)</a:t>
            </a:r>
            <a:endParaRPr sz="900"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fortaa Medium"/>
              <a:buAutoNum type="arabicPeriod"/>
            </a:pPr>
            <a:r>
              <a:rPr lang="en-GB" sz="9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SARSA (baseline)</a:t>
            </a:r>
            <a:endParaRPr sz="900"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fortaa Medium"/>
              <a:buAutoNum type="arabicPeriod"/>
            </a:pPr>
            <a:r>
              <a:rPr lang="en-GB" sz="9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Fixed Lagrangian</a:t>
            </a:r>
            <a:endParaRPr sz="900"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fortaa Medium"/>
              <a:buAutoNum type="arabicPeriod"/>
            </a:pPr>
            <a:r>
              <a:rPr lang="en-GB" sz="9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Adaptive Lagrangian</a:t>
            </a:r>
            <a:endParaRPr sz="900"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fortaa Medium"/>
              <a:buAutoNum type="arabicPeriod"/>
            </a:pPr>
            <a:r>
              <a:rPr lang="en-GB" sz="9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Shielded RL</a:t>
            </a:r>
            <a:endParaRPr sz="900"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Additionally, a Risk Maturity Profile is introduced to map algorithms to real-world deployment scenarios. </a:t>
            </a:r>
            <a:endParaRPr sz="900"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845" y="227409"/>
            <a:ext cx="1542335" cy="53007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9"/>
          <p:cNvSpPr txBox="1"/>
          <p:nvPr>
            <p:ph idx="12" type="sldNum"/>
          </p:nvPr>
        </p:nvSpPr>
        <p:spPr>
          <a:xfrm>
            <a:off x="8872447" y="-9525"/>
            <a:ext cx="27432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GB" sz="1800">
                <a:solidFill>
                  <a:srgbClr val="EE0000"/>
                </a:solidFill>
              </a:rPr>
              <a:t>‹#›</a:t>
            </a:fld>
            <a:endParaRPr b="1">
              <a:solidFill>
                <a:srgbClr val="EE0000"/>
              </a:solidFill>
            </a:endParaRPr>
          </a:p>
        </p:txBody>
      </p:sp>
      <p:sp>
        <p:nvSpPr>
          <p:cNvPr id="171" name="Google Shape;171;p29"/>
          <p:cNvSpPr txBox="1"/>
          <p:nvPr/>
        </p:nvSpPr>
        <p:spPr>
          <a:xfrm>
            <a:off x="1269490" y="270196"/>
            <a:ext cx="8000480" cy="53084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50" lIns="68500" spcFirstLastPara="1" rIns="68500" wrap="square" tIns="342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sz="1100"/>
          </a:p>
        </p:txBody>
      </p:sp>
      <p:graphicFrame>
        <p:nvGraphicFramePr>
          <p:cNvPr id="172" name="Google Shape;172;p29"/>
          <p:cNvGraphicFramePr/>
          <p:nvPr/>
        </p:nvGraphicFramePr>
        <p:xfrm>
          <a:off x="88025" y="907627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{D882C7E1-4D81-4EAD-84D9-B44F34015BA1}</a:tableStyleId>
              </a:tblPr>
              <a:tblGrid>
                <a:gridCol w="538775"/>
                <a:gridCol w="1494700"/>
                <a:gridCol w="2050350"/>
                <a:gridCol w="2412650"/>
                <a:gridCol w="2425075"/>
              </a:tblGrid>
              <a:tr h="204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dk1"/>
                          </a:solidFill>
                        </a:rPr>
                        <a:t>Ref.</a:t>
                      </a:r>
                      <a:endParaRPr sz="1100"/>
                    </a:p>
                  </a:txBody>
                  <a:tcPr marT="0" marB="0" marR="51425" marL="51425" anchor="ctr"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dk1"/>
                          </a:solidFill>
                        </a:rPr>
                        <a:t>Focused Area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51425" marL="51425" anchor="ctr"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dk1"/>
                          </a:solidFill>
                        </a:rPr>
                        <a:t>Methodology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51425" marL="51425" anchor="ctr"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dk1"/>
                          </a:solidFill>
                        </a:rPr>
                        <a:t>Key findings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51425" marL="51425" anchor="ctr"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dk1"/>
                          </a:solidFill>
                        </a:rPr>
                        <a:t>Relevance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51425" marL="51425" anchor="ctr">
                    <a:solidFill>
                      <a:srgbClr val="E2EFD9"/>
                    </a:solidFill>
                  </a:tcPr>
                </a:tc>
              </a:tr>
              <a:tr h="67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lang="en-GB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[1]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1425" marL="5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rgbClr val="222222"/>
                          </a:solidFill>
                        </a:rPr>
                        <a:t>Foundations of Reinforcement Learning</a:t>
                      </a:r>
                      <a:endParaRPr sz="1100">
                        <a:solidFill>
                          <a:srgbClr val="222222"/>
                        </a:solidFill>
                      </a:endParaRPr>
                    </a:p>
                  </a:txBody>
                  <a:tcPr marT="4775" marB="0" marR="4775" marL="4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Introduced Markov Decision Processes and value-based learning methods (Q-Learning, SARSA) with reward maximization framework</a:t>
                      </a:r>
                      <a:r>
                        <a:rPr lang="en-GB" sz="1100">
                          <a:solidFill>
                            <a:srgbClr val="FFFFFF"/>
                          </a:solidFill>
                        </a:rPr>
                        <a:t>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775" marB="0" marR="4775" marL="4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Established that agents can learn optimal policies through trial-and-error interactions with environments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775" marB="0" marR="4775" marL="477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Provides the </a:t>
                      </a: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core RL framework</a:t>
                      </a: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, highlighting why traditional methods ignore safety constraints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91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lang="en-GB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[2]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1425" marL="5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rgbClr val="222222"/>
                          </a:solidFill>
                        </a:rPr>
                        <a:t>Safe Reinforcement Learning via Shielding</a:t>
                      </a:r>
                      <a:endParaRPr sz="1100">
                        <a:solidFill>
                          <a:srgbClr val="222222"/>
                        </a:solidFill>
                      </a:endParaRPr>
                    </a:p>
                  </a:txBody>
                  <a:tcPr marT="4775" marB="0" marR="4775" marL="4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Proposed a formal shielding mechanism that evaluates actions using a safety predicate and overrides unsafe actions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775" marB="0" marR="4775" marL="477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Demonstrated </a:t>
                      </a: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zero-violation guarantees</a:t>
                      </a: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 during both training and deployment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Forms the </a:t>
                      </a: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basis of hard-safety approaches</a:t>
                      </a: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 used in this paper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3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lang="en-GB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[3]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1425" marL="5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rgbClr val="222222"/>
                          </a:solidFill>
                        </a:rPr>
                        <a:t>Reliability in Deep RL Experiments</a:t>
                      </a:r>
                      <a:endParaRPr sz="1100">
                        <a:solidFill>
                          <a:srgbClr val="222222"/>
                        </a:solidFill>
                      </a:endParaRPr>
                    </a:p>
                  </a:txBody>
                  <a:tcPr marT="4775" marB="0" marR="4775" marL="4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Introduced multi-seed evaluation methodology to address randomness in RL training outcomes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775" marB="0" marR="4775" marL="477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Showed that single-run experiments are unreliable; statistical evaluation improves reproducibility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Justifies the </a:t>
                      </a: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multi-seed validation framework</a:t>
                      </a: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 used in this work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84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lang="en-GB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[4]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1425" marL="5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rgbClr val="222222"/>
                          </a:solidFill>
                        </a:rPr>
                        <a:t>Constrained Markov Decision Processes (CMDP)</a:t>
                      </a:r>
                      <a:endParaRPr sz="1100">
                        <a:solidFill>
                          <a:srgbClr val="222222"/>
                        </a:solidFill>
                      </a:endParaRPr>
                    </a:p>
                  </a:txBody>
                  <a:tcPr marT="4775" marB="0" marR="4775" marL="4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Extended MDPs to include cost functions and constraints with optimization under safety thresholds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775" marB="0" marR="4775" marL="477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Provided a formal framework to balance reward maximization with constraint satisfaction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Serves as the </a:t>
                      </a: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mathematical foundation</a:t>
                      </a: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 for modeling Safe RL problems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3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lang="en-GB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[5]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1425" marL="5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Reward-Constrained Policy Optimization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775" marB="0" marR="4775" marL="4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Reward-Constrained Policy Optimization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775" marB="0" marR="4775" marL="477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Demonstrated that safety constraints can be enforced </a:t>
                      </a: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on average using penalties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Forms the </a:t>
                      </a: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basis of Lagrangian methods</a:t>
                      </a: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 evaluated in the study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845" y="227409"/>
            <a:ext cx="1542335" cy="53007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0"/>
          <p:cNvSpPr txBox="1"/>
          <p:nvPr>
            <p:ph idx="12" type="sldNum"/>
          </p:nvPr>
        </p:nvSpPr>
        <p:spPr>
          <a:xfrm>
            <a:off x="8872447" y="-9525"/>
            <a:ext cx="27432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GB" sz="1800">
                <a:solidFill>
                  <a:srgbClr val="EE0000"/>
                </a:solidFill>
              </a:rPr>
              <a:t>‹#›</a:t>
            </a:fld>
            <a:endParaRPr b="1">
              <a:solidFill>
                <a:srgbClr val="EE0000"/>
              </a:solidFill>
            </a:endParaRPr>
          </a:p>
        </p:txBody>
      </p:sp>
      <p:sp>
        <p:nvSpPr>
          <p:cNvPr id="180" name="Google Shape;180;p30"/>
          <p:cNvSpPr txBox="1"/>
          <p:nvPr/>
        </p:nvSpPr>
        <p:spPr>
          <a:xfrm>
            <a:off x="1269490" y="270196"/>
            <a:ext cx="8000480" cy="53084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50" lIns="68500" spcFirstLastPara="1" rIns="68500" wrap="square" tIns="342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Methodology and Implementation</a:t>
            </a:r>
            <a:endParaRPr sz="1100"/>
          </a:p>
        </p:txBody>
      </p:sp>
      <p:sp>
        <p:nvSpPr>
          <p:cNvPr id="181" name="Google Shape;181;p30"/>
          <p:cNvSpPr txBox="1"/>
          <p:nvPr/>
        </p:nvSpPr>
        <p:spPr>
          <a:xfrm>
            <a:off x="0" y="801050"/>
            <a:ext cx="4380900" cy="40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Environment Setup (Data Source)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A </a:t>
            </a:r>
            <a:r>
              <a:rPr b="1" lang="en-GB" sz="1100">
                <a:solidFill>
                  <a:schemeClr val="dk1"/>
                </a:solidFill>
              </a:rPr>
              <a:t>16×16 GridWorld (SafeMiniGrid)</a:t>
            </a:r>
            <a:r>
              <a:rPr lang="en-GB" sz="1100">
                <a:solidFill>
                  <a:schemeClr val="dk1"/>
                </a:solidFill>
              </a:rPr>
              <a:t> environment is designed to simulate a safety-critical navigation problem.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Reward structure:</a:t>
            </a:r>
            <a:endParaRPr sz="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+10 → Goal reached −0.01 → Step penalty +1 cost → Hazard collision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Algorithms used</a:t>
            </a:r>
            <a:endParaRPr sz="1100"/>
          </a:p>
          <a:p>
            <a:pPr indent="-152400" lvl="1" marL="266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Noto Sans Symbols"/>
              <a:buChar char="▪"/>
            </a:pPr>
            <a:r>
              <a:rPr lang="en-GB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Qlearning, SARSA, Shielding, adaptive lagrangian,</a:t>
            </a:r>
            <a:endParaRPr sz="800"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Evaluation Metrics</a:t>
            </a:r>
            <a:endParaRPr sz="1100"/>
          </a:p>
          <a:p>
            <a:pPr indent="-171450" lvl="1" marL="266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Noto Sans Symbols"/>
              <a:buChar char="▪"/>
            </a:pPr>
            <a:r>
              <a:rPr lang="en-GB" sz="15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GB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verage episodic reward, violation rate,standard deviation and pareto efficiency</a:t>
            </a:r>
            <a:endParaRPr sz="700"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Tools used</a:t>
            </a:r>
            <a:endParaRPr sz="1100"/>
          </a:p>
          <a:p>
            <a:pPr indent="-171450" lvl="1" marL="266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Noto Sans Symbols"/>
              <a:buChar char="▪"/>
            </a:pPr>
            <a:r>
              <a:rPr b="0" i="0" lang="en-GB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GB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imulations were carried on Python for 10000 iterations for each algorithm</a:t>
            </a:r>
            <a:endParaRPr sz="700"/>
          </a:p>
          <a:p>
            <a:pPr indent="0" lvl="0" marL="914400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82" name="Google Shape;182;p30"/>
          <p:cNvSpPr txBox="1"/>
          <p:nvPr/>
        </p:nvSpPr>
        <p:spPr>
          <a:xfrm>
            <a:off x="5269730" y="4253543"/>
            <a:ext cx="351901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Fig. Proposed model implementation flow</a:t>
            </a:r>
            <a:r>
              <a:rPr b="0" i="0" lang="en-GB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3" name="Google Shape;183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80900" y="953450"/>
            <a:ext cx="4610700" cy="3300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845" y="227409"/>
            <a:ext cx="1542335" cy="530071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1"/>
          <p:cNvSpPr txBox="1"/>
          <p:nvPr>
            <p:ph idx="12" type="sldNum"/>
          </p:nvPr>
        </p:nvSpPr>
        <p:spPr>
          <a:xfrm>
            <a:off x="8872447" y="-9525"/>
            <a:ext cx="27432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GB" sz="1800">
                <a:solidFill>
                  <a:srgbClr val="EE0000"/>
                </a:solidFill>
              </a:rPr>
              <a:t>‹#›</a:t>
            </a:fld>
            <a:endParaRPr b="1">
              <a:solidFill>
                <a:srgbClr val="EE0000"/>
              </a:solidFill>
            </a:endParaRPr>
          </a:p>
        </p:txBody>
      </p:sp>
      <p:sp>
        <p:nvSpPr>
          <p:cNvPr id="191" name="Google Shape;191;p31"/>
          <p:cNvSpPr txBox="1"/>
          <p:nvPr/>
        </p:nvSpPr>
        <p:spPr>
          <a:xfrm>
            <a:off x="1269490" y="270196"/>
            <a:ext cx="8000480" cy="53084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50" lIns="68500" spcFirstLastPara="1" rIns="68500" wrap="square" tIns="342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Results and Analysis</a:t>
            </a:r>
            <a:endParaRPr sz="1100"/>
          </a:p>
        </p:txBody>
      </p:sp>
      <p:sp>
        <p:nvSpPr>
          <p:cNvPr id="192" name="Google Shape;192;p31"/>
          <p:cNvSpPr txBox="1"/>
          <p:nvPr/>
        </p:nvSpPr>
        <p:spPr>
          <a:xfrm>
            <a:off x="2741941" y="1243731"/>
            <a:ext cx="2145157" cy="25225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3" name="Google Shape;193;p31"/>
          <p:cNvSpPr txBox="1"/>
          <p:nvPr/>
        </p:nvSpPr>
        <p:spPr>
          <a:xfrm>
            <a:off x="278850" y="945400"/>
            <a:ext cx="7862400" cy="3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</a:rPr>
              <a:t>Learning Behavior Insights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Q-Learning:</a:t>
            </a:r>
            <a:r>
              <a:rPr lang="en-GB" sz="1300">
                <a:solidFill>
                  <a:schemeClr val="dk1"/>
                </a:solidFill>
              </a:rPr>
              <a:t> Exploits risky shortcuts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Adaptive Lagrangian:</a:t>
            </a:r>
            <a:r>
              <a:rPr lang="en-GB" sz="1300">
                <a:solidFill>
                  <a:schemeClr val="dk1"/>
                </a:solidFill>
              </a:rPr>
              <a:t> Learns safety gradually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Shielded RL: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Always safe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Slower learning initially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Converges to stable safe policy (~800 episodes)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32276" y="1330876"/>
            <a:ext cx="4851950" cy="270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845" y="227409"/>
            <a:ext cx="1542335" cy="530071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2"/>
          <p:cNvSpPr txBox="1"/>
          <p:nvPr>
            <p:ph idx="12" type="sldNum"/>
          </p:nvPr>
        </p:nvSpPr>
        <p:spPr>
          <a:xfrm>
            <a:off x="8872447" y="-9525"/>
            <a:ext cx="27432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GB" sz="1800">
                <a:solidFill>
                  <a:srgbClr val="EE0000"/>
                </a:solidFill>
              </a:rPr>
              <a:t>‹#›</a:t>
            </a:fld>
            <a:endParaRPr b="1">
              <a:solidFill>
                <a:srgbClr val="EE0000"/>
              </a:solidFill>
            </a:endParaRPr>
          </a:p>
        </p:txBody>
      </p:sp>
      <p:sp>
        <p:nvSpPr>
          <p:cNvPr id="202" name="Google Shape;202;p32"/>
          <p:cNvSpPr txBox="1"/>
          <p:nvPr/>
        </p:nvSpPr>
        <p:spPr>
          <a:xfrm>
            <a:off x="1269490" y="270196"/>
            <a:ext cx="8000480" cy="53084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50" lIns="68500" spcFirstLastPara="1" rIns="68500" wrap="square" tIns="342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Results and Analysis</a:t>
            </a:r>
            <a:endParaRPr sz="1100"/>
          </a:p>
        </p:txBody>
      </p:sp>
      <p:sp>
        <p:nvSpPr>
          <p:cNvPr id="203" name="Google Shape;203;p32"/>
          <p:cNvSpPr txBox="1"/>
          <p:nvPr/>
        </p:nvSpPr>
        <p:spPr>
          <a:xfrm>
            <a:off x="2741941" y="1243731"/>
            <a:ext cx="2145157" cy="25225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4" name="Google Shape;204;p32"/>
          <p:cNvSpPr txBox="1"/>
          <p:nvPr/>
        </p:nvSpPr>
        <p:spPr>
          <a:xfrm>
            <a:off x="935832" y="4485603"/>
            <a:ext cx="2807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05" name="Google Shape;205;p32"/>
          <p:cNvSpPr txBox="1"/>
          <p:nvPr/>
        </p:nvSpPr>
        <p:spPr>
          <a:xfrm>
            <a:off x="6007880" y="4573222"/>
            <a:ext cx="2551670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\</a:t>
            </a:r>
            <a:endParaRPr sz="1100"/>
          </a:p>
        </p:txBody>
      </p:sp>
      <p:sp>
        <p:nvSpPr>
          <p:cNvPr id="206" name="Google Shape;206;p32"/>
          <p:cNvSpPr txBox="1"/>
          <p:nvPr/>
        </p:nvSpPr>
        <p:spPr>
          <a:xfrm>
            <a:off x="278850" y="801050"/>
            <a:ext cx="63996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100"/>
              <a:buNone/>
            </a:pPr>
            <a:r>
              <a:rPr b="1" lang="en-GB">
                <a:solidFill>
                  <a:schemeClr val="dk1"/>
                </a:solidFill>
              </a:rPr>
              <a:t>Pareto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100"/>
              <a:buNone/>
            </a:pPr>
            <a:r>
              <a:rPr lang="en-GB" sz="800">
                <a:solidFill>
                  <a:schemeClr val="dk1"/>
                </a:solidFill>
              </a:rPr>
              <a:t>Shielded RL → Lagrangian → middle ground Baselines → high reward but unsafe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6200" y="1495976"/>
            <a:ext cx="7333350" cy="350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845" y="227409"/>
            <a:ext cx="1542335" cy="53007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3"/>
          <p:cNvSpPr txBox="1"/>
          <p:nvPr>
            <p:ph idx="12" type="sldNum"/>
          </p:nvPr>
        </p:nvSpPr>
        <p:spPr>
          <a:xfrm>
            <a:off x="8872447" y="-9525"/>
            <a:ext cx="27432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GB" sz="1800">
                <a:solidFill>
                  <a:srgbClr val="EE0000"/>
                </a:solidFill>
              </a:rPr>
              <a:t>‹#›</a:t>
            </a:fld>
            <a:endParaRPr b="1">
              <a:solidFill>
                <a:srgbClr val="EE0000"/>
              </a:solidFill>
            </a:endParaRPr>
          </a:p>
        </p:txBody>
      </p:sp>
      <p:sp>
        <p:nvSpPr>
          <p:cNvPr id="215" name="Google Shape;215;p33"/>
          <p:cNvSpPr txBox="1"/>
          <p:nvPr/>
        </p:nvSpPr>
        <p:spPr>
          <a:xfrm>
            <a:off x="0" y="711188"/>
            <a:ext cx="4887098" cy="53084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50" lIns="68500" spcFirstLastPara="1" rIns="68500" wrap="square" tIns="342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Results and Analysis</a:t>
            </a:r>
            <a:endParaRPr sz="1100"/>
          </a:p>
        </p:txBody>
      </p:sp>
      <p:sp>
        <p:nvSpPr>
          <p:cNvPr id="216" name="Google Shape;216;p33"/>
          <p:cNvSpPr txBox="1"/>
          <p:nvPr/>
        </p:nvSpPr>
        <p:spPr>
          <a:xfrm>
            <a:off x="2741941" y="1243731"/>
            <a:ext cx="2145157" cy="25225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7" name="Google Shape;217;p33"/>
          <p:cNvSpPr txBox="1"/>
          <p:nvPr/>
        </p:nvSpPr>
        <p:spPr>
          <a:xfrm>
            <a:off x="807129" y="1242025"/>
            <a:ext cx="3011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Lagrangian adaptive</a:t>
            </a:r>
            <a:endParaRPr b="1" sz="15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99554" y="1497684"/>
            <a:ext cx="4172884" cy="3342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0488" y="1678525"/>
            <a:ext cx="3666128" cy="2885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845" y="227409"/>
            <a:ext cx="1542335" cy="530071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4"/>
          <p:cNvSpPr txBox="1"/>
          <p:nvPr>
            <p:ph idx="12" type="sldNum"/>
          </p:nvPr>
        </p:nvSpPr>
        <p:spPr>
          <a:xfrm>
            <a:off x="8740581" y="0"/>
            <a:ext cx="411480" cy="27972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GB" sz="1800">
                <a:solidFill>
                  <a:srgbClr val="EE0000"/>
                </a:solidFill>
              </a:rPr>
              <a:t>‹#›</a:t>
            </a:fld>
            <a:endParaRPr b="1">
              <a:solidFill>
                <a:srgbClr val="EE0000"/>
              </a:solidFill>
            </a:endParaRPr>
          </a:p>
        </p:txBody>
      </p:sp>
      <p:sp>
        <p:nvSpPr>
          <p:cNvPr id="227" name="Google Shape;227;p34"/>
          <p:cNvSpPr txBox="1"/>
          <p:nvPr/>
        </p:nvSpPr>
        <p:spPr>
          <a:xfrm>
            <a:off x="1269490" y="270196"/>
            <a:ext cx="8000480" cy="53084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50" lIns="68500" spcFirstLastPara="1" rIns="68500" wrap="square" tIns="342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Results and Analysis</a:t>
            </a:r>
            <a:endParaRPr sz="1100"/>
          </a:p>
        </p:txBody>
      </p:sp>
      <p:sp>
        <p:nvSpPr>
          <p:cNvPr id="228" name="Google Shape;228;p34"/>
          <p:cNvSpPr txBox="1"/>
          <p:nvPr/>
        </p:nvSpPr>
        <p:spPr>
          <a:xfrm>
            <a:off x="2741941" y="1243731"/>
            <a:ext cx="2145157" cy="25225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9" name="Google Shape;229;p34"/>
          <p:cNvSpPr txBox="1"/>
          <p:nvPr/>
        </p:nvSpPr>
        <p:spPr>
          <a:xfrm>
            <a:off x="107595" y="872347"/>
            <a:ext cx="1713585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Lagrangian fixed</a:t>
            </a:r>
            <a:endParaRPr sz="1100"/>
          </a:p>
        </p:txBody>
      </p:sp>
      <p:pic>
        <p:nvPicPr>
          <p:cNvPr id="230" name="Google Shape;230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4425" y="1243734"/>
            <a:ext cx="4172884" cy="3342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9" y="1243734"/>
            <a:ext cx="4246351" cy="3342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845" y="227409"/>
            <a:ext cx="1542335" cy="530071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5"/>
          <p:cNvSpPr txBox="1"/>
          <p:nvPr>
            <p:ph idx="12" type="sldNum"/>
          </p:nvPr>
        </p:nvSpPr>
        <p:spPr>
          <a:xfrm>
            <a:off x="8735286" y="-9525"/>
            <a:ext cx="41148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GB" sz="1800">
                <a:solidFill>
                  <a:srgbClr val="EE0000"/>
                </a:solidFill>
              </a:rPr>
              <a:t>‹#›</a:t>
            </a:fld>
            <a:endParaRPr b="1">
              <a:solidFill>
                <a:srgbClr val="EE0000"/>
              </a:solidFill>
            </a:endParaRPr>
          </a:p>
        </p:txBody>
      </p:sp>
      <p:sp>
        <p:nvSpPr>
          <p:cNvPr id="239" name="Google Shape;239;p35"/>
          <p:cNvSpPr txBox="1"/>
          <p:nvPr/>
        </p:nvSpPr>
        <p:spPr>
          <a:xfrm>
            <a:off x="1269490" y="270196"/>
            <a:ext cx="8000480" cy="53084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50" lIns="68500" spcFirstLastPara="1" rIns="68500" wrap="square" tIns="342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Results and Analysis</a:t>
            </a:r>
            <a:endParaRPr sz="1100"/>
          </a:p>
        </p:txBody>
      </p:sp>
      <p:sp>
        <p:nvSpPr>
          <p:cNvPr id="240" name="Google Shape;240;p35"/>
          <p:cNvSpPr txBox="1"/>
          <p:nvPr/>
        </p:nvSpPr>
        <p:spPr>
          <a:xfrm>
            <a:off x="2741941" y="1243731"/>
            <a:ext cx="2145157" cy="25225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1" name="Google Shape;241;p35"/>
          <p:cNvSpPr txBox="1"/>
          <p:nvPr/>
        </p:nvSpPr>
        <p:spPr>
          <a:xfrm>
            <a:off x="278845" y="872341"/>
            <a:ext cx="29217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Q-learning</a:t>
            </a:r>
            <a:endParaRPr sz="1100"/>
          </a:p>
        </p:txBody>
      </p:sp>
      <p:pic>
        <p:nvPicPr>
          <p:cNvPr id="242" name="Google Shape;242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8850" y="1391209"/>
            <a:ext cx="4239004" cy="3342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90804" y="1308909"/>
            <a:ext cx="4246351" cy="3342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845" y="227409"/>
            <a:ext cx="1542335" cy="530071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6"/>
          <p:cNvSpPr txBox="1"/>
          <p:nvPr>
            <p:ph idx="12" type="sldNum"/>
          </p:nvPr>
        </p:nvSpPr>
        <p:spPr>
          <a:xfrm>
            <a:off x="8740581" y="0"/>
            <a:ext cx="411480" cy="27972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GB" sz="1800">
                <a:solidFill>
                  <a:srgbClr val="EE0000"/>
                </a:solidFill>
              </a:rPr>
              <a:t>‹#›</a:t>
            </a:fld>
            <a:endParaRPr b="1">
              <a:solidFill>
                <a:srgbClr val="EE0000"/>
              </a:solidFill>
            </a:endParaRPr>
          </a:p>
        </p:txBody>
      </p:sp>
      <p:sp>
        <p:nvSpPr>
          <p:cNvPr id="251" name="Google Shape;251;p36"/>
          <p:cNvSpPr txBox="1"/>
          <p:nvPr/>
        </p:nvSpPr>
        <p:spPr>
          <a:xfrm>
            <a:off x="1269490" y="270196"/>
            <a:ext cx="8000480" cy="53084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50" lIns="68500" spcFirstLastPara="1" rIns="68500" wrap="square" tIns="342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Results and Analysis</a:t>
            </a:r>
            <a:endParaRPr sz="1100"/>
          </a:p>
        </p:txBody>
      </p:sp>
      <p:sp>
        <p:nvSpPr>
          <p:cNvPr id="252" name="Google Shape;252;p36"/>
          <p:cNvSpPr txBox="1"/>
          <p:nvPr/>
        </p:nvSpPr>
        <p:spPr>
          <a:xfrm>
            <a:off x="2741941" y="1243731"/>
            <a:ext cx="2145157" cy="25225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3" name="Google Shape;253;p36"/>
          <p:cNvSpPr txBox="1"/>
          <p:nvPr/>
        </p:nvSpPr>
        <p:spPr>
          <a:xfrm>
            <a:off x="405919" y="995834"/>
            <a:ext cx="277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SARSA</a:t>
            </a:r>
            <a:endParaRPr b="1" sz="15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2700" y="1295834"/>
            <a:ext cx="4239004" cy="3342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23429" y="1350084"/>
            <a:ext cx="4334510" cy="3342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845" y="227409"/>
            <a:ext cx="1542335" cy="530071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7"/>
          <p:cNvSpPr txBox="1"/>
          <p:nvPr>
            <p:ph idx="12" type="sldNum"/>
          </p:nvPr>
        </p:nvSpPr>
        <p:spPr>
          <a:xfrm>
            <a:off x="8740581" y="0"/>
            <a:ext cx="411480" cy="27972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GB" sz="1800">
                <a:solidFill>
                  <a:srgbClr val="EE0000"/>
                </a:solidFill>
              </a:rPr>
              <a:t>‹#›</a:t>
            </a:fld>
            <a:endParaRPr b="1">
              <a:solidFill>
                <a:srgbClr val="EE0000"/>
              </a:solidFill>
            </a:endParaRPr>
          </a:p>
        </p:txBody>
      </p:sp>
      <p:sp>
        <p:nvSpPr>
          <p:cNvPr id="263" name="Google Shape;263;p37"/>
          <p:cNvSpPr txBox="1"/>
          <p:nvPr/>
        </p:nvSpPr>
        <p:spPr>
          <a:xfrm>
            <a:off x="1269490" y="270196"/>
            <a:ext cx="8000480" cy="53084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50" lIns="68500" spcFirstLastPara="1" rIns="68500" wrap="square" tIns="342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Results and Analysis</a:t>
            </a:r>
            <a:endParaRPr sz="1100"/>
          </a:p>
        </p:txBody>
      </p:sp>
      <p:sp>
        <p:nvSpPr>
          <p:cNvPr id="264" name="Google Shape;264;p37"/>
          <p:cNvSpPr txBox="1"/>
          <p:nvPr/>
        </p:nvSpPr>
        <p:spPr>
          <a:xfrm>
            <a:off x="278850" y="90525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Shielded</a:t>
            </a:r>
            <a:endParaRPr b="1" sz="15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8851" y="1551750"/>
            <a:ext cx="4106450" cy="32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96551" y="1453458"/>
            <a:ext cx="4453900" cy="3434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845" y="227409"/>
            <a:ext cx="1542335" cy="530071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8"/>
          <p:cNvSpPr txBox="1"/>
          <p:nvPr>
            <p:ph idx="12" type="sldNum"/>
          </p:nvPr>
        </p:nvSpPr>
        <p:spPr>
          <a:xfrm>
            <a:off x="8736716" y="-9525"/>
            <a:ext cx="41148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GB" sz="1800">
                <a:solidFill>
                  <a:srgbClr val="EE0000"/>
                </a:solidFill>
              </a:rPr>
              <a:t>‹#›</a:t>
            </a:fld>
            <a:endParaRPr b="1">
              <a:solidFill>
                <a:srgbClr val="EE0000"/>
              </a:solidFill>
            </a:endParaRPr>
          </a:p>
        </p:txBody>
      </p:sp>
      <p:sp>
        <p:nvSpPr>
          <p:cNvPr id="274" name="Google Shape;274;p38"/>
          <p:cNvSpPr txBox="1"/>
          <p:nvPr/>
        </p:nvSpPr>
        <p:spPr>
          <a:xfrm>
            <a:off x="1269490" y="270196"/>
            <a:ext cx="8000480" cy="53084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50" lIns="68500" spcFirstLastPara="1" rIns="68500" wrap="square" tIns="342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1100"/>
          </a:p>
        </p:txBody>
      </p:sp>
      <p:sp>
        <p:nvSpPr>
          <p:cNvPr id="275" name="Google Shape;275;p38"/>
          <p:cNvSpPr txBox="1"/>
          <p:nvPr/>
        </p:nvSpPr>
        <p:spPr>
          <a:xfrm>
            <a:off x="493445" y="896442"/>
            <a:ext cx="8000481" cy="39727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This study shows that: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Reward-only RL is </a:t>
            </a:r>
            <a:r>
              <a:rPr b="1" lang="en-GB" sz="1100">
                <a:solidFill>
                  <a:schemeClr val="dk1"/>
                </a:solidFill>
              </a:rPr>
              <a:t>not suitable for safety-critical systems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Lagrangian methods provide </a:t>
            </a:r>
            <a:r>
              <a:rPr b="1" lang="en-GB" sz="1100">
                <a:solidFill>
                  <a:schemeClr val="dk1"/>
                </a:solidFill>
              </a:rPr>
              <a:t>flexible but imperfect safety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Shielded RL is the only method with guaranteed zero violations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Final Insight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There is a </a:t>
            </a:r>
            <a:r>
              <a:rPr b="1" lang="en-GB" sz="1100">
                <a:solidFill>
                  <a:schemeClr val="dk1"/>
                </a:solidFill>
              </a:rPr>
              <a:t>fundamental tradeoff</a:t>
            </a:r>
            <a:r>
              <a:rPr lang="en-GB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More safety → slower learning / slightly lower reward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Less safety → faster but risky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Future Work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Extend to deep RL (continuous environments)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Use: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Constrained Policy Optimization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Safety-layer neural networks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Develop </a:t>
            </a:r>
            <a:r>
              <a:rPr b="1" lang="en-GB" sz="1100">
                <a:solidFill>
                  <a:schemeClr val="dk1"/>
                </a:solidFill>
              </a:rPr>
              <a:t>adaptive shielding mechanism</a:t>
            </a:r>
            <a:endParaRPr sz="17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177800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None/>
            </a:pPr>
            <a:r>
              <a:t/>
            </a:r>
            <a:endParaRPr sz="17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01600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None/>
            </a:pPr>
            <a:r>
              <a:t/>
            </a:r>
            <a:endParaRPr sz="17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8"/>
          <p:cNvSpPr txBox="1"/>
          <p:nvPr/>
        </p:nvSpPr>
        <p:spPr>
          <a:xfrm>
            <a:off x="1550" y="3858792"/>
            <a:ext cx="1266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845" y="227409"/>
            <a:ext cx="1542335" cy="530071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9"/>
          <p:cNvSpPr txBox="1"/>
          <p:nvPr>
            <p:ph idx="12" type="sldNum"/>
          </p:nvPr>
        </p:nvSpPr>
        <p:spPr>
          <a:xfrm>
            <a:off x="8736716" y="-9525"/>
            <a:ext cx="41148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GB" sz="1800">
                <a:solidFill>
                  <a:srgbClr val="EE0000"/>
                </a:solidFill>
              </a:rPr>
              <a:t>‹#›</a:t>
            </a:fld>
            <a:endParaRPr b="1">
              <a:solidFill>
                <a:srgbClr val="EE0000"/>
              </a:solidFill>
            </a:endParaRPr>
          </a:p>
        </p:txBody>
      </p:sp>
      <p:sp>
        <p:nvSpPr>
          <p:cNvPr id="284" name="Google Shape;284;p39"/>
          <p:cNvSpPr txBox="1"/>
          <p:nvPr/>
        </p:nvSpPr>
        <p:spPr>
          <a:xfrm>
            <a:off x="1269490" y="270196"/>
            <a:ext cx="8000480" cy="53084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50" lIns="68500" spcFirstLastPara="1" rIns="68500" wrap="square" tIns="342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Important References </a:t>
            </a:r>
            <a:endParaRPr sz="1100"/>
          </a:p>
        </p:txBody>
      </p:sp>
      <p:sp>
        <p:nvSpPr>
          <p:cNvPr id="285" name="Google Shape;285;p39"/>
          <p:cNvSpPr txBox="1"/>
          <p:nvPr/>
        </p:nvSpPr>
        <p:spPr>
          <a:xfrm>
            <a:off x="421315" y="1293020"/>
            <a:ext cx="8451600" cy="14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Sutton &amp; Barto – Reinforcement Learning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Watkins &amp; Dayan – Q-Learning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Alshiekh et al. – Safe RL via Shielding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Achiam et al. – Constrained Policy Optimization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Tessler et al. – Reward-Constrained RL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Garcia &amp; Fernández – Safe RL Survey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Bertsekas – Lagrangian Optimization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845" y="227409"/>
            <a:ext cx="1542335" cy="530071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40"/>
          <p:cNvSpPr txBox="1"/>
          <p:nvPr>
            <p:ph idx="12" type="sldNum"/>
          </p:nvPr>
        </p:nvSpPr>
        <p:spPr>
          <a:xfrm>
            <a:off x="8736716" y="-9525"/>
            <a:ext cx="41148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GB" sz="1800">
                <a:solidFill>
                  <a:srgbClr val="EE0000"/>
                </a:solidFill>
              </a:rPr>
              <a:t>‹#›</a:t>
            </a:fld>
            <a:endParaRPr b="1">
              <a:solidFill>
                <a:srgbClr val="EE0000"/>
              </a:solidFill>
            </a:endParaRPr>
          </a:p>
        </p:txBody>
      </p:sp>
      <p:sp>
        <p:nvSpPr>
          <p:cNvPr id="293" name="Google Shape;293;p40"/>
          <p:cNvSpPr txBox="1"/>
          <p:nvPr/>
        </p:nvSpPr>
        <p:spPr>
          <a:xfrm>
            <a:off x="568772" y="1945708"/>
            <a:ext cx="8000480" cy="8309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50" lIns="68500" spcFirstLastPara="1" rIns="68500" wrap="square" tIns="342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